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A8A8A"/>
                </a:solidFill>
                <a:latin typeface="Arial"/>
              </a:rPr>
              <a:t>AVISHKARA'26  ·  JP-019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0A0A"/>
                </a:solidFill>
                <a:latin typeface="Arial"/>
              </a:rPr>
              <a:t>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47C59"/>
                </a:solidFill>
                <a:latin typeface="Arial"/>
              </a:rPr>
              <a:t>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8A8A"/>
                </a:solidFill>
                <a:latin typeface="Arial"/>
              </a:rPr>
              <a:t>Last-Mile Delivery Route Optimizer &amp; Late-Delivery Risk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A8A8A"/>
                </a:solidFill>
                <a:latin typeface="Arial"/>
              </a:rPr>
              <a:t>Team · Code with 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2651760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462272"/>
            <a:ext cx="265176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Naga Shreeshyl K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0292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Team Leader · Developer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4389120"/>
            <a:ext cx="2651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4462272"/>
            <a:ext cx="265176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1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Nivetha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50292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Research · Presenter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4389120"/>
            <a:ext cx="2651760" cy="73152"/>
          </a:xfrm>
          <a:prstGeom prst="rect">
            <a:avLst/>
          </a:prstGeom>
          <a:solidFill>
            <a:srgbClr val="6B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4462272"/>
            <a:ext cx="265176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Ankitha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50292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Research · Presenter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4389120"/>
            <a:ext cx="2651760" cy="73152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4462272"/>
            <a:ext cx="265176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Skanda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50292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Tester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1/6 · Team · JP-019 · Code with Errors · JP-019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2031949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31949" y="6720840"/>
            <a:ext cx="10168890" cy="73152"/>
          </a:xfrm>
          <a:prstGeom prst="rect">
            <a:avLst/>
          </a:prstGeom>
          <a:solidFill>
            <a:srgbClr val="D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C59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A0A0A"/>
                </a:solidFill>
                <a:latin typeface="Arial"/>
              </a:rPr>
              <a:t>Last-mile delivery is hard for a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A8A"/>
                </a:solidFill>
                <a:latin typeface="Arial"/>
              </a:rPr>
              <a:t>Many timed orders · limited vans · hard capacity · customer time windows · late-risk awareness.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65176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59152"/>
            <a:ext cx="26517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Limited vans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4–6 vehicles must cover the whole same-day book.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286000"/>
            <a:ext cx="2651760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2359152"/>
            <a:ext cx="26517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1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Tight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Customers only accept during short slots like 11:00–13:00.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286000"/>
            <a:ext cx="2651760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2359152"/>
            <a:ext cx="26517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Critical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Medicine and same-day promises cannot slip.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286000"/>
            <a:ext cx="2651760" cy="73152"/>
          </a:xfrm>
          <a:prstGeom prst="rect">
            <a:avLst/>
          </a:prstGeom>
          <a:solidFill>
            <a:srgbClr val="6B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359152"/>
            <a:ext cx="26517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Late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9260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Nearest-next looks short — then capacity breaks.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1069848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51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8A8A"/>
                </a:solidFill>
                <a:latin typeface="Arial"/>
              </a:rPr>
              <a:t>REAL-WORLD · BENGALURU SAME-DAY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A0A0A"/>
                </a:solidFill>
                <a:latin typeface="Arial"/>
              </a:rPr>
              <a:t>20+ stops across Koramangala, Indiranagar, JP Nagar · 4–6 vans · critical medicine / same-day · windows like 11:00–13:00. A simple nearest-next plan looks short on the map — then vans overfill, windows break, and late deliveries pile up. The goal is not the shortest line — it is a plan vans can actually run today.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2/6 · The problem · Code with Errors · JP-019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4063898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3898" y="6720840"/>
            <a:ext cx="8136940" cy="73152"/>
          </a:xfrm>
          <a:prstGeom prst="rect">
            <a:avLst/>
          </a:prstGeom>
          <a:solidFill>
            <a:srgbClr val="D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C59"/>
                </a:solidFill>
                <a:latin typeface="Arial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0A0A"/>
                </a:solidFill>
                <a:latin typeface="Arial"/>
              </a:rPr>
              <a:t>Feasible routes · late warnings · honest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520440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84832"/>
            <a:ext cx="3520440" cy="221284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01  Build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Google OR-Tools CVRPTW assigns stops under hard capacity and time windows.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011680"/>
            <a:ext cx="3520440" cy="73152"/>
          </a:xfrm>
          <a:prstGeom prst="rect">
            <a:avLst/>
          </a:prstGeom>
          <a:solidFill>
            <a:srgbClr val="6B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084832"/>
            <a:ext cx="3520440" cy="221284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02  Warn late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6517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scikit-learn scores chance of lateness — advisory only; never breaks rules.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011680"/>
            <a:ext cx="3520440" cy="73152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084832"/>
            <a:ext cx="3520440" cy="221284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03  Prove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517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Same-day Baseline vs Nexus: late, km, on-time % — measured, not invented.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A0A0A"/>
                </a:solidFill>
                <a:latin typeface="Arial"/>
              </a:rPr>
              <a:t>If the day cannot fit, Nexus returns a partial plan and lists deferred stops — we do not fake full success.
No LLM invents routes at runtime.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3/6 · Our solution · Code with Errors · JP-019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6095847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5847" y="6720840"/>
            <a:ext cx="6104991" cy="73152"/>
          </a:xfrm>
          <a:prstGeom prst="rect">
            <a:avLst/>
          </a:prstGeom>
          <a:solidFill>
            <a:srgbClr val="D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C59"/>
                </a:solidFill>
                <a:latin typeface="Arial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0A0A"/>
                </a:solidFill>
                <a:latin typeface="Arial"/>
              </a:rPr>
              <a:t>What we used —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651760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8191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39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Lab screens &amp; presentation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508760"/>
            <a:ext cx="2651760" cy="73152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58191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1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Leaflet + OSM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2148839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Bengaluru map visualization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508760"/>
            <a:ext cx="2651760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8191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2148839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Solve · compare · Lab APIs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508760"/>
            <a:ext cx="265176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58191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1737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Google OR-Tools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148839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Hard capacity + time windows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03320"/>
            <a:ext cx="2651760" cy="73152"/>
          </a:xfrm>
          <a:prstGeom prst="rect">
            <a:avLst/>
          </a:prstGeom>
          <a:solidFill>
            <a:srgbClr val="6B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7647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931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scikit-learn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34340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Late-delivery risk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3703320"/>
            <a:ext cx="2651760" cy="73152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377647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1" y="3931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1" y="434340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Demo scenarios on disk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3703320"/>
            <a:ext cx="2651760" cy="731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77647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1" y="3931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OSRM → Haversine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1" y="434340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Roads, else straight-line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3703320"/>
            <a:ext cx="2651760" cy="731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3776472"/>
            <a:ext cx="26517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3931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No 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434340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Math + classical ML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4/6 · Tech stack · Code with Errors · JP-019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20840"/>
            <a:ext cx="8127796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7796" y="6720840"/>
            <a:ext cx="4073042" cy="73152"/>
          </a:xfrm>
          <a:prstGeom prst="rect">
            <a:avLst/>
          </a:prstGeom>
          <a:solidFill>
            <a:srgbClr val="D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C59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A0A0A"/>
                </a:solidFill>
                <a:latin typeface="Arial"/>
              </a:rPr>
              <a:t>Open the Lab — prove it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A8A"/>
                </a:solidFill>
                <a:latin typeface="Arial"/>
              </a:rPr>
              <a:t>Synthetic Bengaluru data (JP-019 allowed). Solvers and risk scores run for real on that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520440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50592"/>
            <a:ext cx="352044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01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Big picture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377440"/>
            <a:ext cx="3520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450592"/>
            <a:ext cx="352044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02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Load the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377440"/>
            <a:ext cx="3520440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450592"/>
            <a:ext cx="352044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03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Side-by-side maps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77639"/>
            <a:ext cx="3520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50791"/>
            <a:ext cx="352044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04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Likely late stops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977639"/>
            <a:ext cx="3520440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4050791"/>
            <a:ext cx="352044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05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Live graphs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977639"/>
            <a:ext cx="3520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050791"/>
            <a:ext cx="3520440" cy="1344168"/>
          </a:xfrm>
          <a:prstGeom prst="rect">
            <a:avLst/>
          </a:prstGeom>
          <a:solidFill>
            <a:srgbClr val="FFFFFF"/>
          </a:solidFill>
          <a:ln>
            <a:solidFill>
              <a:srgbClr val="D6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06 Exports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A8A"/>
                </a:solidFill>
                <a:latin typeface="Arial"/>
              </a:rPr>
              <a:t>Then return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0A0A"/>
                </a:solidFill>
                <a:latin typeface="Arial"/>
              </a:rPr>
              <a:t>Live: https://nexusaidecisionengine.vercel.app/optimizer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5/6 · See the Lab · Code with Errors · JP-019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20840"/>
            <a:ext cx="10159746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59746" y="6720840"/>
            <a:ext cx="2041093" cy="73152"/>
          </a:xfrm>
          <a:prstGeom prst="rect">
            <a:avLst/>
          </a:prstGeom>
          <a:solidFill>
            <a:srgbClr val="D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A8A8A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A0A0A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8A8A"/>
                </a:solidFill>
                <a:latin typeface="Arial"/>
              </a:rPr>
              <a:t>Nexus Logistics · Team Code with Errors · Avishkara'26 · JP-019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A8A"/>
                </a:solidFill>
                <a:latin typeface="Arial"/>
              </a:rPr>
              <a:t>Honest limits: synthetic demo scenarios · ML not production-validated · optimizer is time-limited (feasible ≠ globally optimal) · travel may use Haversine when roads are unavailable.
No generative AI invents routes at runtime — OR-Tools + classical 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0A0A"/>
                </a:solidFill>
                <a:latin typeface="Arial"/>
              </a:rPr>
              <a:t>App: nexusaidecisionengine.vercel.app   ·   GitHub: github.com/Nagashreeshyl/nexus-logistics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8A8A"/>
                </a:solidFill>
                <a:latin typeface="Arial"/>
              </a:rPr>
              <a:t>6/6 · Thank you · Code with Errors · JP-019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73152"/>
          </a:xfrm>
          <a:prstGeom prst="rect">
            <a:avLst/>
          </a:prstGeom>
          <a:solidFill>
            <a:srgbClr val="F4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91695" y="6720840"/>
            <a:ext cx="9144" cy="73152"/>
          </a:xfrm>
          <a:prstGeom prst="rect">
            <a:avLst/>
          </a:prstGeom>
          <a:solidFill>
            <a:srgbClr val="D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